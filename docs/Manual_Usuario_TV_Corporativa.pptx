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14534D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480560"/>
            <a:ext cx="4023360" cy="4023360"/>
          </a:xfrm>
          <a:prstGeom prst="ellipse">
            <a:avLst/>
          </a:prstGeom>
          <a:solidFill>
            <a:srgbClr val="0E4A4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3108960" cy="2027764"/>
          </a:xfrm>
          <a:prstGeom prst="roundRect">
            <a:avLst>
              <a:gd name="adj" fmla="val 54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34440"/>
            <a:ext cx="2560320" cy="13876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76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 USUÁRIO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Corporativa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6868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 · Grupo Flexível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1.0  ·  Junho/2026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funciona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servidor central guarda todo o conteúdo e o distribui para as TVs, que exibem em tela cheia (modo quiosque). Você controla tudo pelo Painel de Administração — pelo navegador, sem instalar nada nas TVs.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971800"/>
            <a:ext cx="777240" cy="77724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15" y="3181655"/>
            <a:ext cx="357530" cy="357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971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Administração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cria e organiza o conteúdo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913632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6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4434840" y="269748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2971800"/>
            <a:ext cx="777240" cy="77724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015" y="3181655"/>
            <a:ext cx="357530" cy="3575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2971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central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0916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 distribui tudo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7799832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6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8321040" y="269748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95360" y="2971800"/>
            <a:ext cx="777240" cy="77724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215" y="3181655"/>
            <a:ext cx="357530" cy="3575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09760" y="2971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TVs em tela cheia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59536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Exibem a programação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AF3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8680" y="5120640"/>
            <a:ext cx="777240" cy="77724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535" y="5330495"/>
            <a:ext cx="357530" cy="3575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28800" y="5120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painel:  </a:t>
            </a:r>
            <a:pPr indent="0" marL="0">
              <a:buNone/>
            </a:pPr>
            <a:r>
              <a:rPr lang="en-US" sz="14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</a:t>
            </a:r>
            <a:pPr indent="0" marL="0">
              <a:buNone/>
            </a:pPr>
            <a:r>
              <a:rPr lang="en-US" sz="1450" b="1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http://SEU-SERVIDOR:8080/admin</a:t>
            </a:r>
            <a:pPr indent="0" marL="0">
              <a:buNone/>
            </a:pPr>
            <a:r>
              <a:rPr lang="en-US" sz="14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entre com seu usuário ou e-mail e a senha. Esqueceu? Clique em </a:t>
            </a:r>
            <a:pPr indent="0" marL="0">
              <a:buNone/>
            </a:pPr>
            <a:r>
              <a:rPr lang="en-US" sz="1450" i="1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“Esqueci minha senha”</a:t>
            </a:r>
            <a:pPr indent="0" marL="0">
              <a:buNone/>
            </a:pPr>
            <a:r>
              <a:rPr lang="en-US" sz="14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redefina por e-mail.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BÁSICOS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peças do sistema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2697480" cy="40233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85900" y="214884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99" y="2371039"/>
            <a:ext cx="378562" cy="378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04672" y="36576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tela física. Tem um endereço próprio (/tela/nome) e exibe uma grade + uma barra inferior.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355848" y="1783080"/>
            <a:ext cx="2697480" cy="40233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93108" y="214884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307" y="237103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38728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3611880" y="36576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de conteúdos que gira na tela — a “programação” daquela TV.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63056" y="1783080"/>
            <a:ext cx="2697480" cy="40233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00316" y="214884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15" y="2371039"/>
            <a:ext cx="378562" cy="3785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45936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(slide)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419088" y="36576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da grade: imagem, vídeo, galeria, notícias, página, Grafana…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8970264" y="1783080"/>
            <a:ext cx="2697480" cy="40233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907524" y="214884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723" y="2371039"/>
            <a:ext cx="378562" cy="3785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3144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inferior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9226296" y="36576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rodapé fixo: relógio, cotações, clima, logo e textos.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76C04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5448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TV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07008" y="160934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 lateral, abra “TVs” e clique em “Nova TV”.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2505456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07008" y="237744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(ex.: TV Recepção) e um identificador curto (slug) — vira /tela/recepcao.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07008" y="314553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Vincule uma Grade (o que vai aparecer) e uma Barra inferior (o rodapé).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548640" y="4041648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07008" y="391363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como ativa e clique em Salvar.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548640" y="4809744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07008" y="46817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TV, abra http://servidor:8080/tela/recepcao em tela cheia.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7406640" y="1783080"/>
            <a:ext cx="4206240" cy="3108960"/>
          </a:xfrm>
          <a:prstGeom prst="roundRect">
            <a:avLst>
              <a:gd name="adj" fmla="val 2647"/>
            </a:avLst>
          </a:prstGeom>
          <a:solidFill>
            <a:srgbClr val="EAF3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098280" y="205740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479" y="2279599"/>
            <a:ext cx="378562" cy="37856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809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68096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lateral › TVs › Nova TV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7680960" y="3931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TV é independente: pode ter a sua própria grade e o seu próprio rodapé.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59436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6E6"/>
          </a:solidFill>
          <a:ln/>
        </p:spPr>
      </p:sp>
      <p:sp>
        <p:nvSpPr>
          <p:cNvPr id="29" name="Text 25"/>
          <p:cNvSpPr/>
          <p:nvPr/>
        </p:nvSpPr>
        <p:spPr>
          <a:xfrm>
            <a:off x="804672" y="59436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  </a:t>
            </a:r>
            <a:pPr indent="0" marL="0">
              <a:buNone/>
            </a:pPr>
            <a:r>
              <a:rPr lang="en-US" sz="1300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TVs podem compartilhar a mesma grade ou usar grades diferentes — você decide no cadastro de cada TV.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76C04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5448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Grade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07008" y="179222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 lateral, abra “Grades” e clique em “Nova Grade”.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2761488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07008" y="263347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nome para a programação (ex.: Programação Recepção).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07008" y="347472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 duração padrão de cada slide (ex.: 12 segundos).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548640" y="4443984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07008" y="431596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Salve. Em seguida, vá montar o conteúdo em “Montar Grade”.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7406640" y="1783080"/>
            <a:ext cx="4206240" cy="3108960"/>
          </a:xfrm>
          <a:prstGeom prst="roundRect">
            <a:avLst>
              <a:gd name="adj" fmla="val 2647"/>
            </a:avLst>
          </a:prstGeom>
          <a:solidFill>
            <a:srgbClr val="EAF3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98280" y="205740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479" y="2279599"/>
            <a:ext cx="378562" cy="3785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809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fica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68096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lateral › Grades › Nova Grade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7680960" y="3931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duração padrão vale para todos os slides, mas você pode mudar o tempo de cada um depois.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6E6"/>
          </a:solidFill>
          <a:ln/>
        </p:spPr>
      </p:sp>
      <p:sp>
        <p:nvSpPr>
          <p:cNvPr id="26" name="Text 22"/>
          <p:cNvSpPr/>
          <p:nvPr/>
        </p:nvSpPr>
        <p:spPr>
          <a:xfrm>
            <a:off x="804672" y="52578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  </a:t>
            </a:r>
            <a:pPr indent="0" marL="0">
              <a:buNone/>
            </a:pPr>
            <a:r>
              <a:rPr lang="en-US" sz="1300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mesma grade pode ser usada em várias TVs ao mesmo tempo — edite uma vez, vale para todas.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76C04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5448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 Grade — adicionar conteúdos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</a:t>
            </a:r>
            <a:pPr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“Montar Grade”</a:t>
            </a:r>
            <a:pPr indent="0" marL="0">
              <a:buNone/>
            </a:pPr>
            <a:r>
              <a:rPr lang="en-US" sz="16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selecione a grade no topo e clique em </a:t>
            </a:r>
            <a:pPr indent="0" marL="0">
              <a:buNone/>
            </a:pPr>
            <a:r>
              <a:rPr lang="en-US" sz="1600" b="1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“Adicionar”</a:t>
            </a:r>
            <a:pPr indent="0" marL="0">
              <a:buNone/>
            </a:pPr>
            <a:r>
              <a:rPr lang="en-US" sz="16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Escolha o tipo de conteúdo: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2587752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" y="2809951"/>
            <a:ext cx="378562" cy="3785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83080" y="29443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com título e texto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70248" y="2286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26280" y="2587752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79" y="2809951"/>
            <a:ext cx="378562" cy="3785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04688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504688" y="29443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Imagem, vídeo, PDF ou YouTube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991856" y="2286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47888" y="2587752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087" y="2809951"/>
            <a:ext cx="378562" cy="3785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26296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226296" y="29443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fotos em rotação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4672" y="4187952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" y="4410151"/>
            <a:ext cx="378562" cy="3785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8308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783080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Manchetes com imagem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270248" y="3886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26280" y="4187952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8479" y="4410151"/>
            <a:ext cx="378562" cy="3785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0468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(URL)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5504688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um site/painel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7991856" y="3886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247888" y="4187952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0087" y="4410151"/>
            <a:ext cx="378562" cy="37856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226296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600" dirty="0"/>
          </a:p>
        </p:txBody>
      </p:sp>
      <p:sp>
        <p:nvSpPr>
          <p:cNvPr id="37" name="Text 28"/>
          <p:cNvSpPr/>
          <p:nvPr/>
        </p:nvSpPr>
        <p:spPr>
          <a:xfrm>
            <a:off x="9226296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de dashboards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6E6"/>
          </a:solidFill>
          <a:ln/>
        </p:spPr>
      </p:sp>
      <p:sp>
        <p:nvSpPr>
          <p:cNvPr id="39" name="Text 30"/>
          <p:cNvSpPr/>
          <p:nvPr/>
        </p:nvSpPr>
        <p:spPr>
          <a:xfrm>
            <a:off x="804672" y="562356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  </a:t>
            </a:r>
            <a:pPr indent="0" marL="0">
              <a:buNone/>
            </a:pPr>
            <a:r>
              <a:rPr lang="en-US" sz="1300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“Escolher da Biblioteca” para reaproveitar arquivos já enviados. Cada conteúdo vira um cartão na sequência.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76C04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5448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Reposicionar e ajustar os conteúdos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07008" y="174650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os cartões para mudar a ordem de exibição.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07008" y="258775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cartão, ajuste o tempo (duração) daquele conteúdo.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07008" y="342900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 ou exclua um conteúdo pelo próprio cartão.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548640" y="4398264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07008" y="42702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Ative/desative um slide sem precisar apagá-lo.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7406640" y="1783080"/>
            <a:ext cx="4206240" cy="3200400"/>
          </a:xfrm>
          <a:prstGeom prst="roundRect">
            <a:avLst>
              <a:gd name="adj" fmla="val 257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98280" y="205740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479" y="2279599"/>
            <a:ext cx="378562" cy="3785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809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manda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68096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dos cartões é exatamente a ordem em que os conteúdos aparecem na TV.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6E6"/>
          </a:solidFill>
          <a:ln/>
        </p:spPr>
      </p:sp>
      <p:sp>
        <p:nvSpPr>
          <p:cNvPr id="25" name="Text 21"/>
          <p:cNvSpPr/>
          <p:nvPr/>
        </p:nvSpPr>
        <p:spPr>
          <a:xfrm>
            <a:off x="804672" y="530352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  </a:t>
            </a:r>
            <a:pPr indent="0" marL="0">
              <a:buNone/>
            </a:pPr>
            <a:r>
              <a:rPr lang="en-US" sz="1300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desativados ficam guardados na grade, mas não vão ao ar — ótimo para pausar algo temporariamente.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76C04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5448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Barra inferior (rodapé)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</a:t>
            </a:r>
            <a:pPr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“Barra inferior”</a:t>
            </a:r>
            <a:pPr indent="0" marL="0">
              <a:buNone/>
            </a:pPr>
            <a:r>
              <a:rPr lang="en-US" sz="16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monte o rodapé escolhendo os widgets e onde cada um fica: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85900" y="246888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99" y="2691079"/>
            <a:ext cx="378562" cy="3785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7724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 fundo transparente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55848" y="224028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3108" y="246888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307" y="2691079"/>
            <a:ext cx="378562" cy="3785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38728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 hora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84448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seleção de fuso horário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63056" y="224028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00316" y="246888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15" y="2691079"/>
            <a:ext cx="378562" cy="3785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45936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391656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 e Euro (US$/€)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970264" y="224028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907524" y="246888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723" y="2691079"/>
            <a:ext cx="378562" cy="3785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53144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198864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por cidade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48640" y="4526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 cada widget à esquerda, no centro ou à direita. Defina a cor (HEX/RGB) e a altura da barra. Depois, vincule a barra à TV no cadastro da TV.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6E6"/>
          </a:solidFill>
          <a:ln/>
        </p:spPr>
      </p:sp>
      <p:sp>
        <p:nvSpPr>
          <p:cNvPr id="30" name="Text 23"/>
          <p:cNvSpPr/>
          <p:nvPr/>
        </p:nvSpPr>
        <p:spPr>
          <a:xfrm>
            <a:off x="804672" y="534924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  </a:t>
            </a:r>
            <a:pPr indent="0" marL="0">
              <a:buNone/>
            </a:pPr>
            <a:r>
              <a:rPr lang="en-US" sz="1300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também pode adicionar um texto/ticker fixo. Cada TV pode ter a sua própria barra inferior.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mídia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07008" y="174650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“Biblioteca”, envie imagens, vídeos e PDFs.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07008" y="258775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os arquivos em pastas.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07008" y="342900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Mova arquivos de pasta arrastando — as referências nos slides se ajustam.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48640" y="4398264"/>
            <a:ext cx="457200" cy="457200"/>
          </a:xfrm>
          <a:prstGeom prst="ellipse">
            <a:avLst/>
          </a:prstGeom>
          <a:solidFill>
            <a:srgbClr val="0F7C7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07008" y="42702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montar a grade, escolha direto da biblioteca.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406640" y="1783080"/>
            <a:ext cx="4206240" cy="3200400"/>
          </a:xfrm>
          <a:prstGeom prst="roundRect">
            <a:avLst>
              <a:gd name="adj" fmla="val 257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098280" y="2057400"/>
            <a:ext cx="822960" cy="822960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479" y="2279599"/>
            <a:ext cx="378562" cy="37856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809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aceitos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680960" y="3401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· JPG · JPEG · MP4 · PDF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680960" y="3886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as mídias na proporção da tela (16:9) para o melhor resultado.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6E6"/>
          </a:solidFill>
          <a:ln/>
        </p:spPr>
      </p:sp>
      <p:sp>
        <p:nvSpPr>
          <p:cNvPr id="24" name="Text 20"/>
          <p:cNvSpPr/>
          <p:nvPr/>
        </p:nvSpPr>
        <p:spPr>
          <a:xfrm>
            <a:off x="804672" y="530352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  </a:t>
            </a:r>
            <a:pPr indent="0" marL="0">
              <a:buNone/>
            </a:pPr>
            <a:r>
              <a:rPr lang="en-US" sz="1300" dirty="0">
                <a:solidFill>
                  <a:srgbClr val="7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Reaproveite a mesma imagem ou vídeo em várias grades sem precisar enviar de novo.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(1/2)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&amp; exibição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020824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54" y="2183770"/>
            <a:ext cx="277612" cy="2776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929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481328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PNG/JPG em tela cheia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33672" y="178308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2020824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786" y="2183770"/>
            <a:ext cx="277612" cy="2776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929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MP4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16636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 tela, avança no fim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918704" y="178308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119872" y="2020824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818" y="2183770"/>
            <a:ext cx="277612" cy="2776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51392" y="1929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851392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em rotação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008376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3246120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754" y="3409066"/>
            <a:ext cx="277612" cy="2776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81328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481328" y="35112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 ao terminar o vídeo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233672" y="3008376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34840" y="3246120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786" y="3409066"/>
            <a:ext cx="277612" cy="2776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5166360" y="35112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Exibido em tela cheia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7918704" y="3008376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119872" y="3246120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2818" y="3409066"/>
            <a:ext cx="277612" cy="2776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851392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851392" y="35112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+ imagem + manchete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548640" y="4233672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49808" y="4471416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754" y="4634362"/>
            <a:ext cx="277612" cy="27761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481328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/ URL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1481328" y="4736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páginas estáticas</a:t>
            </a:r>
            <a:endParaRPr lang="en-US" sz="1150" dirty="0"/>
          </a:p>
        </p:txBody>
      </p:sp>
      <p:sp>
        <p:nvSpPr>
          <p:cNvPr id="40" name="Shape 30"/>
          <p:cNvSpPr/>
          <p:nvPr/>
        </p:nvSpPr>
        <p:spPr>
          <a:xfrm>
            <a:off x="4233672" y="4233672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4434840" y="4471416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786" y="4634362"/>
            <a:ext cx="277612" cy="27761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166360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5166360" y="4736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automático + playlist</a:t>
            </a:r>
            <a:endParaRPr lang="en-US" sz="1150" dirty="0"/>
          </a:p>
        </p:txBody>
      </p:sp>
      <p:sp>
        <p:nvSpPr>
          <p:cNvPr id="45" name="Shape 34"/>
          <p:cNvSpPr/>
          <p:nvPr/>
        </p:nvSpPr>
        <p:spPr>
          <a:xfrm>
            <a:off x="7918704" y="4233672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8119872" y="4471416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818" y="4634362"/>
            <a:ext cx="277612" cy="27761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851392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</a:t>
            </a:r>
            <a:endParaRPr lang="en-US" sz="1400" dirty="0"/>
          </a:p>
        </p:txBody>
      </p:sp>
      <p:sp>
        <p:nvSpPr>
          <p:cNvPr id="49" name="Text 37"/>
          <p:cNvSpPr/>
          <p:nvPr/>
        </p:nvSpPr>
        <p:spPr>
          <a:xfrm>
            <a:off x="8851392" y="4736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com título e texto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411480"/>
            <a:ext cx="1051560" cy="5699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(2/2)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&amp; segurança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020824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54" y="2183770"/>
            <a:ext cx="277612" cy="2776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929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TVs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481328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com endereço próprio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33672" y="178308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2020824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786" y="2183770"/>
            <a:ext cx="277612" cy="2776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929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reutilizáveis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16636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por slide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918704" y="1783080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119872" y="2020824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818" y="2183770"/>
            <a:ext cx="277612" cy="2776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51392" y="1929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configurável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851392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Widgets, cor, posição, altura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3008376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3246120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754" y="3409066"/>
            <a:ext cx="277612" cy="2776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81328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481328" y="35112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em pastas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233672" y="3008376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34840" y="3246120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786" y="3409066"/>
            <a:ext cx="277612" cy="2776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flexível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5166360" y="35112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usuário ou e-mail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7918704" y="3008376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119872" y="3246120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2818" y="3409066"/>
            <a:ext cx="277612" cy="2776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851392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851392" y="35112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por área + usuários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548640" y="4233672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49808" y="4471416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754" y="4634362"/>
            <a:ext cx="277612" cy="27761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481328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Esqueci a senha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1481328" y="4736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Redefinição por e-mail (SMTP)</a:t>
            </a:r>
            <a:endParaRPr lang="en-US" sz="1150" dirty="0"/>
          </a:p>
        </p:txBody>
      </p:sp>
      <p:sp>
        <p:nvSpPr>
          <p:cNvPr id="40" name="Shape 30"/>
          <p:cNvSpPr/>
          <p:nvPr/>
        </p:nvSpPr>
        <p:spPr>
          <a:xfrm>
            <a:off x="4233672" y="4233672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4434840" y="4471416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7786" y="4634362"/>
            <a:ext cx="277612" cy="27761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166360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automática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5166360" y="4736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mexer na TV</a:t>
            </a:r>
            <a:endParaRPr lang="en-US" sz="1150" dirty="0"/>
          </a:p>
        </p:txBody>
      </p:sp>
      <p:sp>
        <p:nvSpPr>
          <p:cNvPr id="45" name="Shape 34"/>
          <p:cNvSpPr/>
          <p:nvPr/>
        </p:nvSpPr>
        <p:spPr>
          <a:xfrm>
            <a:off x="7918704" y="4233672"/>
            <a:ext cx="35204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8119872" y="4471416"/>
            <a:ext cx="603504" cy="603504"/>
          </a:xfrm>
          <a:prstGeom prst="ellipse">
            <a:avLst/>
          </a:prstGeom>
          <a:solidFill>
            <a:srgbClr val="0F7C7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818" y="4634362"/>
            <a:ext cx="277612" cy="27761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851392" y="4379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3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 &amp; clima</a:t>
            </a:r>
            <a:endParaRPr lang="en-US" sz="1400" dirty="0"/>
          </a:p>
        </p:txBody>
      </p:sp>
      <p:sp>
        <p:nvSpPr>
          <p:cNvPr id="49" name="Text 37"/>
          <p:cNvSpPr/>
          <p:nvPr/>
        </p:nvSpPr>
        <p:spPr>
          <a:xfrm>
            <a:off x="8851392" y="4736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US$/€ a cada 1h, clima por cidade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371600"/>
            <a:ext cx="4206240" cy="4206240"/>
          </a:xfrm>
          <a:prstGeom prst="ellipse">
            <a:avLst/>
          </a:prstGeom>
          <a:solidFill>
            <a:srgbClr val="14534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657600" cy="3657600"/>
          </a:xfrm>
          <a:prstGeom prst="ellipse">
            <a:avLst/>
          </a:prstGeom>
          <a:solidFill>
            <a:srgbClr val="0E4A4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2286000" cy="1448403"/>
          </a:xfrm>
          <a:prstGeom prst="roundRect">
            <a:avLst>
              <a:gd name="adj" fmla="val 63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828800" cy="9912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usar!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rápido:  </a:t>
            </a:r>
            <a:pPr indent="0" marL="0">
              <a:buNone/>
            </a:pPr>
            <a:r>
              <a:rPr lang="en-US" sz="1800" dirty="0">
                <a:solidFill>
                  <a:srgbClr val="DC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TV  ➜  monte a grade  ➜  configure o rodapé  ➜  publique.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dúvida, fale com a equipe de TI.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Corporativa · Grupo Flexível · Manual do Usuário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do Usuário — TV Corporativa</dc:title>
  <dc:subject>PptxGenJS Presentation</dc:subject>
  <dc:creator>Grupo Flexível</dc:creator>
  <cp:lastModifiedBy>Grupo Flexível</cp:lastModifiedBy>
  <cp:revision>1</cp:revision>
  <dcterms:created xsi:type="dcterms:W3CDTF">2026-06-24T14:25:25Z</dcterms:created>
  <dcterms:modified xsi:type="dcterms:W3CDTF">2026-06-24T14:25:25Z</dcterms:modified>
</cp:coreProperties>
</file>